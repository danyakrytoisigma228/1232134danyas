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10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82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02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77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2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51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8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86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59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728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86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817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75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650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17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9BE10-07E3-4808-9AB4-5BAE1338C261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0347C8F-5BB7-4D33-AD93-46E49C0F9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7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Информационная безопасность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Автор К</a:t>
            </a:r>
          </a:p>
          <a:p>
            <a:r>
              <a:rPr lang="ru-RU" dirty="0"/>
              <a:t>3</a:t>
            </a:r>
            <a:r>
              <a:rPr lang="ru-RU" dirty="0" smtClean="0"/>
              <a:t>омиссаров </a:t>
            </a:r>
            <a:r>
              <a:rPr lang="ru-RU" dirty="0"/>
              <a:t>Д</a:t>
            </a:r>
            <a:r>
              <a:rPr lang="ru-RU" dirty="0" smtClean="0"/>
              <a:t>анил 10 группа </a:t>
            </a:r>
            <a:r>
              <a:rPr lang="en-US" dirty="0" smtClean="0"/>
              <a:t>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49886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8970" y="1245020"/>
            <a:ext cx="10515600" cy="3741048"/>
          </a:xfrm>
        </p:spPr>
        <p:txBody>
          <a:bodyPr>
            <a:noAutofit/>
          </a:bodyPr>
          <a:lstStyle/>
          <a:p>
            <a:pPr algn="ctr"/>
            <a:r>
              <a:rPr lang="ru-RU" sz="2400" dirty="0" smtClean="0"/>
              <a:t>Методы защиты </a:t>
            </a:r>
            <a:br>
              <a:rPr lang="ru-RU" sz="2400" dirty="0" smtClean="0"/>
            </a:br>
            <a:r>
              <a:rPr lang="ru-RU" sz="2400" dirty="0" smtClean="0"/>
              <a:t>Методы защиты включают в себя использование надёжных </a:t>
            </a:r>
            <a:br>
              <a:rPr lang="ru-RU" sz="2400" dirty="0" smtClean="0"/>
            </a:br>
            <a:r>
              <a:rPr lang="ru-RU" sz="2400" dirty="0" smtClean="0"/>
              <a:t>паролей, шифрование данных и регулярное обновление </a:t>
            </a:r>
            <a:br>
              <a:rPr lang="ru-RU" sz="2400" dirty="0" smtClean="0"/>
            </a:br>
            <a:r>
              <a:rPr lang="ru-RU" sz="2400" dirty="0" smtClean="0"/>
              <a:t>программного обеспечения. </a:t>
            </a:r>
            <a:br>
              <a:rPr lang="ru-RU" sz="2400" dirty="0" smtClean="0"/>
            </a:br>
            <a:r>
              <a:rPr lang="ru-RU" sz="2400" dirty="0" smtClean="0"/>
              <a:t>Эти меры помогают предотвратить несанкционированный доступ и </a:t>
            </a:r>
            <a:br>
              <a:rPr lang="ru-RU" sz="2400" dirty="0" smtClean="0"/>
            </a:br>
            <a:r>
              <a:rPr lang="ru-RU" sz="2400" dirty="0" smtClean="0"/>
              <a:t>снижают риск утечки конфиденциальной информации. </a:t>
            </a:r>
            <a:br>
              <a:rPr lang="ru-RU" sz="2400" dirty="0" smtClean="0"/>
            </a:br>
            <a:r>
              <a:rPr lang="ru-RU" sz="2400" dirty="0" smtClean="0"/>
              <a:t>Комплексный подход к защите данных обеспечивает стабильность </a:t>
            </a:r>
            <a:br>
              <a:rPr lang="ru-RU" sz="2400" dirty="0" smtClean="0"/>
            </a:br>
            <a:r>
              <a:rPr lang="ru-RU" sz="2400" dirty="0" smtClean="0"/>
              <a:t>и надёжность работы информационных систем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3674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3577" y="888521"/>
            <a:ext cx="10515600" cy="554396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sz="2700" dirty="0" smtClean="0"/>
              <a:t>В данной презентации мы рассмотрим основные аспекты </a:t>
            </a:r>
            <a:br>
              <a:rPr lang="ru-RU" sz="2700" dirty="0" smtClean="0"/>
            </a:br>
            <a:r>
              <a:rPr lang="ru-RU" sz="2700" dirty="0" smtClean="0"/>
              <a:t>информационной безопасности, включая угрозы, которые могут </a:t>
            </a:r>
            <a:br>
              <a:rPr lang="ru-RU" sz="2700" dirty="0" smtClean="0"/>
            </a:br>
            <a:r>
              <a:rPr lang="ru-RU" sz="2700" dirty="0" smtClean="0"/>
              <a:t>возникнуть в информационной системе. Обсудим методы защиты </a:t>
            </a:r>
            <a:br>
              <a:rPr lang="ru-RU" sz="2700" dirty="0" smtClean="0"/>
            </a:br>
            <a:r>
              <a:rPr lang="ru-RU" sz="2700" dirty="0" smtClean="0"/>
              <a:t>данных и актуальные технологии шифрования, а также </a:t>
            </a:r>
            <a:br>
              <a:rPr lang="ru-RU" sz="2700" dirty="0" smtClean="0"/>
            </a:br>
            <a:r>
              <a:rPr lang="ru-RU" sz="2700" dirty="0" smtClean="0"/>
              <a:t>законодательные нормы, регулирующие сферу информационной </a:t>
            </a:r>
            <a:br>
              <a:rPr lang="ru-RU" sz="2700" dirty="0" smtClean="0"/>
            </a:br>
            <a:r>
              <a:rPr lang="ru-RU" sz="2700" dirty="0" smtClean="0"/>
              <a:t>безопасности. </a:t>
            </a:r>
            <a:br>
              <a:rPr lang="ru-RU" sz="2700" dirty="0" smtClean="0"/>
            </a:br>
            <a:r>
              <a:rPr lang="ru-RU" sz="2700" dirty="0" smtClean="0"/>
              <a:t> </a:t>
            </a:r>
            <a:br>
              <a:rPr lang="ru-RU" sz="2700" dirty="0" smtClean="0"/>
            </a:br>
            <a:r>
              <a:rPr lang="ru-RU" sz="2700" dirty="0" smtClean="0"/>
              <a:t/>
            </a:r>
            <a:br>
              <a:rPr lang="ru-RU" sz="2700" dirty="0" smtClean="0"/>
            </a:br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303746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5233" y="1417548"/>
            <a:ext cx="10515600" cy="4940120"/>
          </a:xfrm>
        </p:spPr>
        <p:txBody>
          <a:bodyPr>
            <a:noAutofit/>
          </a:bodyPr>
          <a:lstStyle/>
          <a:p>
            <a:r>
              <a:rPr lang="ru-RU" sz="2400" dirty="0"/>
              <a:t>Методы защиты Методы защиты включают в себя использование надёжных паролей, шифрование данных и регулярное обновление программного обеспечения. Эти меры помогают предотвратить несанкционированный доступ и снижают риск утечки конфиденциальной информации. Комплексный подход к защите данных обеспечивает стабильность и надёжность работы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9895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6276" y="1121434"/>
            <a:ext cx="10515600" cy="4692769"/>
          </a:xfrm>
        </p:spPr>
        <p:txBody>
          <a:bodyPr>
            <a:noAutofit/>
          </a:bodyPr>
          <a:lstStyle/>
          <a:p>
            <a:pPr algn="ctr"/>
            <a:r>
              <a:rPr lang="ru-RU" sz="1800" dirty="0" smtClean="0"/>
              <a:t>План действий при инциденте </a:t>
            </a:r>
            <a:br>
              <a:rPr lang="ru-RU" sz="1800" dirty="0" smtClean="0"/>
            </a:br>
            <a:r>
              <a:rPr lang="ru-RU" sz="1800" dirty="0" smtClean="0"/>
              <a:t>При обнаружении инцидента </a:t>
            </a:r>
            <a:br>
              <a:rPr lang="ru-RU" sz="1800" dirty="0" smtClean="0"/>
            </a:br>
            <a:r>
              <a:rPr lang="ru-RU" sz="1800" dirty="0" smtClean="0"/>
              <a:t>информационной безопасности </a:t>
            </a:r>
            <a:br>
              <a:rPr lang="ru-RU" sz="1800" dirty="0" smtClean="0"/>
            </a:br>
            <a:r>
              <a:rPr lang="ru-RU" sz="1800" dirty="0" smtClean="0"/>
              <a:t>необходимо немедленно </a:t>
            </a:r>
            <a:br>
              <a:rPr lang="ru-RU" sz="1800" dirty="0" smtClean="0"/>
            </a:br>
            <a:r>
              <a:rPr lang="ru-RU" sz="1800" dirty="0" smtClean="0"/>
              <a:t>активировать план реагирования, </a:t>
            </a:r>
            <a:br>
              <a:rPr lang="ru-RU" sz="1800" dirty="0" smtClean="0"/>
            </a:br>
            <a:r>
              <a:rPr lang="ru-RU" sz="1800" dirty="0" smtClean="0"/>
              <a:t>включая уведомление ответственного </a:t>
            </a:r>
            <a:br>
              <a:rPr lang="ru-RU" sz="1800" dirty="0" smtClean="0"/>
            </a:br>
            <a:r>
              <a:rPr lang="ru-RU" sz="1800" dirty="0" smtClean="0"/>
              <a:t>персонала и остановку </a:t>
            </a:r>
            <a:br>
              <a:rPr lang="ru-RU" sz="1800" dirty="0" smtClean="0"/>
            </a:br>
            <a:r>
              <a:rPr lang="ru-RU" sz="1800" dirty="0" smtClean="0"/>
              <a:t>подозрительных процессов. </a:t>
            </a:r>
            <a:br>
              <a:rPr lang="ru-RU" sz="1800" dirty="0" smtClean="0"/>
            </a:br>
            <a:r>
              <a:rPr lang="ru-RU" sz="1800" dirty="0" smtClean="0"/>
              <a:t>Важно оперативно оценить масштаб </a:t>
            </a:r>
            <a:br>
              <a:rPr lang="ru-RU" sz="1800" dirty="0" smtClean="0"/>
            </a:br>
            <a:r>
              <a:rPr lang="ru-RU" sz="1800" dirty="0" smtClean="0"/>
              <a:t>угрозы и собрать необходимые </a:t>
            </a:r>
            <a:br>
              <a:rPr lang="ru-RU" sz="1800" dirty="0" smtClean="0"/>
            </a:br>
            <a:r>
              <a:rPr lang="ru-RU" sz="1800" dirty="0" smtClean="0"/>
              <a:t>данные для анализа, чтобы выбрать </a:t>
            </a:r>
            <a:br>
              <a:rPr lang="ru-RU" sz="1800" dirty="0" smtClean="0"/>
            </a:br>
            <a:r>
              <a:rPr lang="ru-RU" sz="1800" dirty="0" smtClean="0"/>
              <a:t>наиболее эффективные меры по </a:t>
            </a:r>
            <a:br>
              <a:rPr lang="ru-RU" sz="1800" dirty="0" smtClean="0"/>
            </a:br>
            <a:r>
              <a:rPr lang="ru-RU" sz="1800" dirty="0" smtClean="0"/>
              <a:t>устранению последствий и </a:t>
            </a:r>
            <a:br>
              <a:rPr lang="ru-RU" sz="1800" dirty="0" smtClean="0"/>
            </a:br>
            <a:r>
              <a:rPr lang="ru-RU" sz="1800" dirty="0" smtClean="0"/>
              <a:t>восстановлению нормального </a:t>
            </a:r>
            <a:br>
              <a:rPr lang="ru-RU" sz="1800" dirty="0" smtClean="0"/>
            </a:br>
            <a:r>
              <a:rPr lang="ru-RU" sz="1800" dirty="0" smtClean="0"/>
              <a:t>функционирования систем. </a:t>
            </a:r>
            <a:br>
              <a:rPr lang="ru-RU" sz="1800" dirty="0" smtClean="0"/>
            </a:br>
            <a:r>
              <a:rPr lang="ru-RU" sz="1800" dirty="0" smtClean="0"/>
              <a:t>После устранения инцидента следует </a:t>
            </a:r>
            <a:br>
              <a:rPr lang="ru-RU" sz="1800" dirty="0" smtClean="0"/>
            </a:br>
            <a:r>
              <a:rPr lang="ru-RU" sz="1800" dirty="0" smtClean="0"/>
              <a:t>провести анализ причин его </a:t>
            </a:r>
            <a:br>
              <a:rPr lang="ru-RU" sz="1800" dirty="0" smtClean="0"/>
            </a:br>
            <a:r>
              <a:rPr lang="ru-RU" sz="1800" dirty="0" smtClean="0"/>
              <a:t>возникновения и разработать меры по </a:t>
            </a:r>
            <a:br>
              <a:rPr lang="ru-RU" sz="1800" dirty="0" smtClean="0"/>
            </a:br>
            <a:r>
              <a:rPr lang="ru-RU" sz="1800" dirty="0" smtClean="0"/>
              <a:t>предотвращению аналогичных </a:t>
            </a:r>
            <a:br>
              <a:rPr lang="ru-RU" sz="1800" dirty="0" smtClean="0"/>
            </a:br>
            <a:r>
              <a:rPr lang="ru-RU" sz="1800" dirty="0" smtClean="0"/>
              <a:t>ситуаций в будущем. </a:t>
            </a:r>
            <a:br>
              <a:rPr lang="ru-RU" sz="1800" dirty="0" smtClean="0"/>
            </a:br>
            <a:r>
              <a:rPr lang="ru-RU" sz="1800" dirty="0" smtClean="0"/>
              <a:t>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81874587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83</TotalTime>
  <Words>58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Легкий дым</vt:lpstr>
      <vt:lpstr>Информационная безопасность </vt:lpstr>
      <vt:lpstr>Методы защиты  Методы защиты включают в себя использование надёжных  паролей, шифрование данных и регулярное обновление  программного обеспечения.  Эти меры помогают предотвратить несанкционированный доступ и  снижают риск утечки конфиденциальной информации.  Комплексный подход к защите данных обеспечивает стабильность  и надёжность работы информационных систем</vt:lpstr>
      <vt:lpstr> В данной презентации мы рассмотрим основные аспекты  информационной безопасности, включая угрозы, которые могут  возникнуть в информационной системе. Обсудим методы защиты  данных и актуальные технологии шифрования, а также  законодательные нормы, регулирующие сферу информационной  безопасности.     </vt:lpstr>
      <vt:lpstr>Методы защиты Методы защиты включают в себя использование надёжных паролей, шифрование данных и регулярное обновление программного обеспечения. Эти меры помогают предотвратить несанкционированный доступ и снижают риск утечки конфиденциальной информации. Комплексный подход к защите данных обеспечивает стабильность и надёжность работы информационных систем</vt:lpstr>
      <vt:lpstr>План действий при инциденте  При обнаружении инцидента  информационной безопасности  необходимо немедленно  активировать план реагирования,  включая уведомление ответственного  персонала и остановку  подозрительных процессов.  Важно оперативно оценить масштаб  угрозы и собрать необходимые  данные для анализа, чтобы выбрать  наиболее эффективные меры по  устранению последствий и  восстановлению нормального  функционирования систем.  После устранения инцидента следует  провести анализ причин его  возникновения и разработать меры по  предотвращению аналогичных  ситуаций в будущем.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пользователь</dc:creator>
  <cp:lastModifiedBy>пользователь</cp:lastModifiedBy>
  <cp:revision>5</cp:revision>
  <dcterms:created xsi:type="dcterms:W3CDTF">2025-10-20T07:51:36Z</dcterms:created>
  <dcterms:modified xsi:type="dcterms:W3CDTF">2025-10-20T09:15:03Z</dcterms:modified>
</cp:coreProperties>
</file>